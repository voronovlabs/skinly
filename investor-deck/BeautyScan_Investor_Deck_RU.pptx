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3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2743200" cy="5029200"/>
          </a:xfrm>
          <a:prstGeom prst="roundRect">
            <a:avLst>
              <a:gd name="adj" fmla="val 9333"/>
            </a:avLst>
          </a:prstGeom>
          <a:solidFill>
            <a:srgbClr val="2A2024"/>
          </a:solidFill>
          <a:ln/>
          <a:effectLst>
            <a:outerShdw sx="100000" sy="100000" kx="0" ky="0" algn="bl" rotWithShape="0" blurRad="114300" dist="38100" dir="5400000">
              <a:srgbClr val="1A1A1A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32688" y="1024128"/>
            <a:ext cx="2523744" cy="4809744"/>
          </a:xfrm>
          <a:prstGeom prst="roundRect">
            <a:avLst>
              <a:gd name="adj" fmla="val 7246"/>
            </a:avLst>
          </a:prstGeom>
          <a:solidFill>
            <a:srgbClr val="F5E6E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BeautyScan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737360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zen-clever-archimedes/mnt/outputs/assets/ic_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697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AI-анализ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25880" y="5029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9B3030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5029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Сканируй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BEAUTY AI</a:t>
            </a:r>
            <a:pPr indent="0" marL="0">
              <a:buNone/>
            </a:pPr>
            <a:r>
              <a:rPr lang="en-US" sz="1200" spc="200" kern="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РАБОТАЮЩИЙ ПРОДУКТ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0" y="18288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BeautyScan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4114800" y="297180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персонализированного подбора косметики на основе анализа кожи и состава средств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14800" y="4297680"/>
            <a:ext cx="1890979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A9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0" y="4297680"/>
            <a:ext cx="18909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Веб-версия запущена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70371" y="4297680"/>
            <a:ext cx="214335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A98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0371" y="4297680"/>
            <a:ext cx="21433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Нативные iOS / Android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478317" y="4297680"/>
            <a:ext cx="256397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A98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78317" y="4297680"/>
            <a:ext cx="2563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+ AI-анализ состава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Длинный и сложный путь к идеальной покупке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косметики превращается в утомительный процесс: часы поиска, изучение составов и отзывов — и всё равно ошибки.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39242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92608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часа в месяц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79392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самостоятельный поиск косметики, составов и отзывов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8264" y="2651760"/>
            <a:ext cx="339242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2584" y="292608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72584" y="38862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неэффективных покупок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72584" y="4279392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не подходят или не дают ожидаемого результата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6448" y="2651760"/>
            <a:ext cx="3392424" cy="2331720"/>
          </a:xfrm>
          <a:prstGeom prst="roundRect">
            <a:avLst>
              <a:gd name="adj" fmla="val 3922"/>
            </a:avLst>
          </a:prstGeom>
          <a:solidFill>
            <a:srgbClr val="F5E6E0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92608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$7.7B*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430768" y="38862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рынка в России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30768" y="4279392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проблемы = масштаб возможности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рыночные оценки из исходного дека; не подтверждены источником — требуют верификации перед раундом.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Красота за три шага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соединяет весь цикл — от анализа состава до покупки. Платформа учится на ваших оценках и персонализирует рекомендации.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30098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72384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rgbClr val="EBA9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60120" y="3063240"/>
            <a:ext cx="777240" cy="77724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8" name="Image 0" descr="/sessions/zen-clever-archimedes/mnt/outputs/assets/ic_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325755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977640"/>
            <a:ext cx="2660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Сканируй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443484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Наведите камеру на штрихкод любого средства</a:t>
            </a:r>
            <a:endParaRPr lang="en-US" sz="1250" dirty="0"/>
          </a:p>
        </p:txBody>
      </p:sp>
      <p:pic>
        <p:nvPicPr>
          <p:cNvPr id="11" name="Image 1" descr="/sessions/zen-clever-archimedes/mnt/outputs/assets/ic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364" y="384048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43984" y="2743200"/>
            <a:ext cx="330098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876288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rgbClr val="EBA9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4764024" y="3063240"/>
            <a:ext cx="777240" cy="77724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5" name="Image 2" descr="/sessions/zen-clever-archimedes/mnt/outputs/assets/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334" y="325755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64024" y="3977640"/>
            <a:ext cx="2660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Оценивай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764024" y="443484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анализ состава под ваш профиль кожи</a:t>
            </a:r>
            <a:endParaRPr lang="en-US" sz="1250" dirty="0"/>
          </a:p>
        </p:txBody>
      </p:sp>
      <p:pic>
        <p:nvPicPr>
          <p:cNvPr id="18" name="Image 3" descr="/sessions/zen-clever-archimedes/mnt/outputs/assets/ic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9268" y="384048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47888" y="2743200"/>
            <a:ext cx="330098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10680192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rgbClr val="EBA9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Shape 15"/>
          <p:cNvSpPr/>
          <p:nvPr/>
        </p:nvSpPr>
        <p:spPr>
          <a:xfrm>
            <a:off x="8567928" y="3063240"/>
            <a:ext cx="777240" cy="77724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22" name="Image 4" descr="/sessions/zen-clever-archimedes/mnt/outputs/assets/ic_c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2238" y="3257550"/>
            <a:ext cx="388620" cy="3886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67928" y="3977640"/>
            <a:ext cx="2660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Покупай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8567928" y="443484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Персональные рекомендации и ссылка на покупку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ПОСТРОЕНО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идея — работающий продукт на двух платформах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прошли стадию гипотез. Есть рабочее ядро, развёрнутое в проде, и нативное приложение, готовое к публикации.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2579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880360"/>
            <a:ext cx="731520" cy="731520"/>
          </a:xfrm>
          <a:prstGeom prst="ellipse">
            <a:avLst/>
          </a:prstGeom>
          <a:solidFill>
            <a:srgbClr val="E6E0F5"/>
          </a:solidFill>
          <a:ln/>
        </p:spPr>
      </p:sp>
      <p:pic>
        <p:nvPicPr>
          <p:cNvPr id="7" name="Image 0" descr="/sessions/zen-clever-archimedes/mnt/outputs/assets/ic_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063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898648"/>
            <a:ext cx="38541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Веб-приложение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46771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19, развёрнуто в проде (Caddy + Docker). Авторизация, гостевой режим, онбординг, сканер, страницы продукта.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23076" y="2606040"/>
            <a:ext cx="522579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97396" y="2880360"/>
            <a:ext cx="731520" cy="73152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2" name="Image 1" descr="/sessions/zen-clever-archimedes/mnt/outputs/assets/ic_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30632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6076" y="2898648"/>
            <a:ext cx="38541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Мобильное приложение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597396" y="3566160"/>
            <a:ext cx="46771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Expo SDK 51. Реальные Xcode- и Gradle-проекты, bundle id com.skinly.mobileapp — готово к подаче в сторы.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617720"/>
            <a:ext cx="2487168" cy="1463040"/>
          </a:xfrm>
          <a:prstGeom prst="roundRect">
            <a:avLst>
              <a:gd name="adj" fmla="val 6250"/>
            </a:avLst>
          </a:prstGeom>
          <a:solidFill>
            <a:srgbClr val="F2EFE9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8371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sessions/zen-clever-archimedes/mnt/outputs/assets/ic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95147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536752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в проде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68680" y="56601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Prisma, REST API /api/v1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447288" y="4617720"/>
            <a:ext cx="2487168" cy="1463040"/>
          </a:xfrm>
          <a:prstGeom prst="roundRect">
            <a:avLst>
              <a:gd name="adj" fmla="val 6250"/>
            </a:avLst>
          </a:prstGeom>
          <a:solidFill>
            <a:srgbClr val="F2EFE9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75888" y="48371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sessions/zen-clever-archimedes/mnt/outputs/assets/ic_flas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0188" y="495147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675888" y="536752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совместимости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675888" y="56601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Детерминированный, 0–100, вердикт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254496" y="4617720"/>
            <a:ext cx="2487168" cy="1463040"/>
          </a:xfrm>
          <a:prstGeom prst="roundRect">
            <a:avLst>
              <a:gd name="adj" fmla="val 6250"/>
            </a:avLst>
          </a:prstGeom>
          <a:solidFill>
            <a:srgbClr val="F2EFE9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83096" y="48371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sessions/zen-clever-archimedes/mnt/outputs/assets/ic_d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396" y="4951476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83096" y="536752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+ пайплайн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483096" y="56601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Скрейпер → нормализатор → Postgres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9061704" y="4617720"/>
            <a:ext cx="2487168" cy="1463040"/>
          </a:xfrm>
          <a:prstGeom prst="roundRect">
            <a:avLst>
              <a:gd name="adj" fmla="val 6250"/>
            </a:avLst>
          </a:prstGeom>
          <a:solidFill>
            <a:srgbClr val="F2EFE9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290304" y="48371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/sessions/zen-clever-archimedes/mnt/outputs/assets/ic_glo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4604" y="4951476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90304" y="536752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/ EN i18n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9290304" y="56601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ключей, mobile-first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ЗА 30 СЕКУНД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Полный путь пользователя — уже реализован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экран ниже работает в текущей сборке. Вставьте реальные скриншоты в этой последовательности.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604772" cy="3383280"/>
          </a:xfrm>
          <a:prstGeom prst="roundRect">
            <a:avLst>
              <a:gd name="adj" fmla="val 9117"/>
            </a:avLst>
          </a:prstGeom>
          <a:solidFill>
            <a:srgbClr val="2A2024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532888"/>
            <a:ext cx="1476756" cy="3255264"/>
          </a:xfrm>
          <a:prstGeom prst="roundRect">
            <a:avLst>
              <a:gd name="adj" fmla="val 7430"/>
            </a:avLst>
          </a:prstGeom>
          <a:solidFill>
            <a:srgbClr val="FBF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86434" y="2596896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A2024"/>
          </a:solidFill>
          <a:ln/>
        </p:spPr>
      </p:sp>
      <p:sp>
        <p:nvSpPr>
          <p:cNvPr id="8" name="Shape 6"/>
          <p:cNvSpPr/>
          <p:nvPr/>
        </p:nvSpPr>
        <p:spPr>
          <a:xfrm>
            <a:off x="1149858" y="3593592"/>
            <a:ext cx="585216" cy="585216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9" name="Image 0" descr="/sessions/zen-clever-archimedes/mnt/outputs/assets/ic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162" y="373989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27024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5961888"/>
            <a:ext cx="1604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Онбординг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00884" y="2468880"/>
            <a:ext cx="1604772" cy="3383280"/>
          </a:xfrm>
          <a:prstGeom prst="roundRect">
            <a:avLst>
              <a:gd name="adj" fmla="val 9117"/>
            </a:avLst>
          </a:prstGeom>
          <a:solidFill>
            <a:srgbClr val="2A2024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4892" y="2532888"/>
            <a:ext cx="1476756" cy="3255264"/>
          </a:xfrm>
          <a:prstGeom prst="roundRect">
            <a:avLst>
              <a:gd name="adj" fmla="val 7430"/>
            </a:avLst>
          </a:prstGeom>
          <a:solidFill>
            <a:srgbClr val="FBF4EF"/>
          </a:solidFill>
          <a:ln/>
        </p:spPr>
      </p:sp>
      <p:sp>
        <p:nvSpPr>
          <p:cNvPr id="14" name="Shape 11"/>
          <p:cNvSpPr/>
          <p:nvPr/>
        </p:nvSpPr>
        <p:spPr>
          <a:xfrm>
            <a:off x="3047238" y="2596896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A2024"/>
          </a:solidFill>
          <a:ln/>
        </p:spPr>
      </p:sp>
      <p:sp>
        <p:nvSpPr>
          <p:cNvPr id="15" name="Shape 12"/>
          <p:cNvSpPr/>
          <p:nvPr/>
        </p:nvSpPr>
        <p:spPr>
          <a:xfrm>
            <a:off x="3010662" y="3593592"/>
            <a:ext cx="585216" cy="585216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6" name="Image 1" descr="/sessions/zen-clever-archimedes/mnt/outputs/assets/ic_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966" y="373989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46604" y="427024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00884" y="5961888"/>
            <a:ext cx="1604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Сканирование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361688" y="2468880"/>
            <a:ext cx="1604772" cy="3383280"/>
          </a:xfrm>
          <a:prstGeom prst="roundRect">
            <a:avLst>
              <a:gd name="adj" fmla="val 9117"/>
            </a:avLst>
          </a:prstGeom>
          <a:solidFill>
            <a:srgbClr val="2A2024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425696" y="2532888"/>
            <a:ext cx="1476756" cy="3255264"/>
          </a:xfrm>
          <a:prstGeom prst="roundRect">
            <a:avLst>
              <a:gd name="adj" fmla="val 7430"/>
            </a:avLst>
          </a:prstGeom>
          <a:solidFill>
            <a:srgbClr val="FBF4EF"/>
          </a:solidFill>
          <a:ln/>
        </p:spPr>
      </p:sp>
      <p:sp>
        <p:nvSpPr>
          <p:cNvPr id="21" name="Shape 17"/>
          <p:cNvSpPr/>
          <p:nvPr/>
        </p:nvSpPr>
        <p:spPr>
          <a:xfrm>
            <a:off x="4908042" y="2596896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A2024"/>
          </a:solidFill>
          <a:ln/>
        </p:spPr>
      </p:sp>
      <p:sp>
        <p:nvSpPr>
          <p:cNvPr id="22" name="Shape 18"/>
          <p:cNvSpPr/>
          <p:nvPr/>
        </p:nvSpPr>
        <p:spPr>
          <a:xfrm>
            <a:off x="4871466" y="3593592"/>
            <a:ext cx="585216" cy="585216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23" name="Image 2" descr="/sessions/zen-clever-archimedes/mnt/outputs/assets/ic_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3739896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407408" y="427024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361688" y="5961888"/>
            <a:ext cx="1604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AI-анализ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222492" y="2468880"/>
            <a:ext cx="1604772" cy="3383280"/>
          </a:xfrm>
          <a:prstGeom prst="roundRect">
            <a:avLst>
              <a:gd name="adj" fmla="val 9117"/>
            </a:avLst>
          </a:prstGeom>
          <a:solidFill>
            <a:srgbClr val="2A2024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86500" y="2532888"/>
            <a:ext cx="1476756" cy="3255264"/>
          </a:xfrm>
          <a:prstGeom prst="roundRect">
            <a:avLst>
              <a:gd name="adj" fmla="val 7430"/>
            </a:avLst>
          </a:prstGeom>
          <a:solidFill>
            <a:srgbClr val="FBF4EF"/>
          </a:solidFill>
          <a:ln/>
        </p:spPr>
      </p:sp>
      <p:sp>
        <p:nvSpPr>
          <p:cNvPr id="28" name="Shape 23"/>
          <p:cNvSpPr/>
          <p:nvPr/>
        </p:nvSpPr>
        <p:spPr>
          <a:xfrm>
            <a:off x="6768846" y="2596896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A2024"/>
          </a:solidFill>
          <a:ln/>
        </p:spPr>
      </p:sp>
      <p:sp>
        <p:nvSpPr>
          <p:cNvPr id="29" name="Shape 24"/>
          <p:cNvSpPr/>
          <p:nvPr/>
        </p:nvSpPr>
        <p:spPr>
          <a:xfrm>
            <a:off x="6732270" y="3593592"/>
            <a:ext cx="585216" cy="585216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30" name="Image 3" descr="/sessions/zen-clever-archimedes/mnt/outputs/assets/ic_came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8574" y="3739896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68212" y="427024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222492" y="5961888"/>
            <a:ext cx="1604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Совместимость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8083296" y="2468880"/>
            <a:ext cx="1604772" cy="3383280"/>
          </a:xfrm>
          <a:prstGeom prst="roundRect">
            <a:avLst>
              <a:gd name="adj" fmla="val 9117"/>
            </a:avLst>
          </a:prstGeom>
          <a:solidFill>
            <a:srgbClr val="2A2024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147304" y="2532888"/>
            <a:ext cx="1476756" cy="3255264"/>
          </a:xfrm>
          <a:prstGeom prst="roundRect">
            <a:avLst>
              <a:gd name="adj" fmla="val 7430"/>
            </a:avLst>
          </a:prstGeom>
          <a:solidFill>
            <a:srgbClr val="FBF4EF"/>
          </a:solidFill>
          <a:ln/>
        </p:spPr>
      </p:sp>
      <p:sp>
        <p:nvSpPr>
          <p:cNvPr id="35" name="Shape 29"/>
          <p:cNvSpPr/>
          <p:nvPr/>
        </p:nvSpPr>
        <p:spPr>
          <a:xfrm>
            <a:off x="8629650" y="2596896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A2024"/>
          </a:solidFill>
          <a:ln/>
        </p:spPr>
      </p:sp>
      <p:sp>
        <p:nvSpPr>
          <p:cNvPr id="36" name="Shape 30"/>
          <p:cNvSpPr/>
          <p:nvPr/>
        </p:nvSpPr>
        <p:spPr>
          <a:xfrm>
            <a:off x="8593074" y="3593592"/>
            <a:ext cx="585216" cy="585216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37" name="Image 4" descr="/sessions/zen-clever-archimedes/mnt/outputs/assets/ic_came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9378" y="3739896"/>
            <a:ext cx="292608" cy="29260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129016" y="427024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8083296" y="5961888"/>
            <a:ext cx="1604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Каталог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9944100" y="2468880"/>
            <a:ext cx="1604772" cy="3383280"/>
          </a:xfrm>
          <a:prstGeom prst="roundRect">
            <a:avLst>
              <a:gd name="adj" fmla="val 9117"/>
            </a:avLst>
          </a:prstGeom>
          <a:solidFill>
            <a:srgbClr val="2A2024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10008108" y="2532888"/>
            <a:ext cx="1476756" cy="3255264"/>
          </a:xfrm>
          <a:prstGeom prst="roundRect">
            <a:avLst>
              <a:gd name="adj" fmla="val 7430"/>
            </a:avLst>
          </a:prstGeom>
          <a:solidFill>
            <a:srgbClr val="FBF4EF"/>
          </a:solidFill>
          <a:ln/>
        </p:spPr>
      </p:sp>
      <p:sp>
        <p:nvSpPr>
          <p:cNvPr id="42" name="Shape 35"/>
          <p:cNvSpPr/>
          <p:nvPr/>
        </p:nvSpPr>
        <p:spPr>
          <a:xfrm>
            <a:off x="10490454" y="2596896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A2024"/>
          </a:solidFill>
          <a:ln/>
        </p:spPr>
      </p:sp>
      <p:sp>
        <p:nvSpPr>
          <p:cNvPr id="43" name="Shape 36"/>
          <p:cNvSpPr/>
          <p:nvPr/>
        </p:nvSpPr>
        <p:spPr>
          <a:xfrm>
            <a:off x="10453878" y="3593592"/>
            <a:ext cx="585216" cy="585216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44" name="Image 5" descr="/sessions/zen-clever-archimedes/mnt/outputs/assets/ic_camer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0182" y="3739896"/>
            <a:ext cx="292608" cy="29260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989820" y="4270248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9944100" y="5961888"/>
            <a:ext cx="1604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Рекомендации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48" name="Text 4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backend — две платформы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 и мобильное приложение работают на одном ядре. Это снижает стоимость и риски разработки и ускоряет рост.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3924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862072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7" name="Image 0" descr="/sessions/zen-clever-archimedes/mnt/outputs/assets/ic_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" y="302209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7889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31546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Expo SDK 51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98264" y="2514600"/>
            <a:ext cx="33924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4296" y="2862072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2" name="Image 1" descr="/sessions/zen-clever-archimedes/mnt/outputs/assets/ic_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316" y="30220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9824" y="27889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 (PWA-ready)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49824" y="31546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56448" y="2514600"/>
            <a:ext cx="33924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862072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7" name="Image 2" descr="/sessions/zen-clever-archimedes/mnt/outputs/assets/ic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02209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08008" y="27889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/api/v1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208008" y="31546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для всех клиентов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114800"/>
            <a:ext cx="33924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6112" y="4462272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22" name="Image 3" descr="/sessions/zen-clever-archimedes/mnt/outputs/assets/ic_d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" y="462229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43891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691640" y="47548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Каталог, профили, история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98264" y="4114800"/>
            <a:ext cx="33924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54296" y="4462272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27" name="Image 4" descr="/sessions/zen-clever-archimedes/mnt/outputs/assets/ic_flas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316" y="4622292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9824" y="43891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совместимости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449824" y="47548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Pure-функция, server+client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56448" y="4114800"/>
            <a:ext cx="33924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12480" y="4462272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32" name="Image 5" descr="/sessions/zen-clever-archimedes/mnt/outputs/assets/ic_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0" y="4622292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08008" y="43891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(JWT) + Guest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9208008" y="47548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edge-middleware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40080" y="5669280"/>
            <a:ext cx="10908792" cy="502920"/>
          </a:xfrm>
          <a:prstGeom prst="roundRect">
            <a:avLst>
              <a:gd name="adj" fmla="val 18182"/>
            </a:avLst>
          </a:prstGeom>
          <a:solidFill>
            <a:srgbClr val="3A2F2A"/>
          </a:solidFill>
          <a:ln/>
        </p:spPr>
      </p:sp>
      <p:sp>
        <p:nvSpPr>
          <p:cNvPr id="36" name="Text 28"/>
          <p:cNvSpPr/>
          <p:nvPr/>
        </p:nvSpPr>
        <p:spPr>
          <a:xfrm>
            <a:off x="822960" y="566928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Стек: Next.js 15 · React 19 · TypeScript · Prisma 6 · PostgreSQL 16 · Tailwind v4 · Expo SDK 51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Анализ совместимости, который работает уже сегодня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Детерминированный engine оценивает состав под профиль кожи — без «чёрного ящика». Это честная база, на которую сверху ляжет AI и ML.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25796" cy="2331720"/>
          </a:xfrm>
          <a:prstGeom prst="roundRect">
            <a:avLst>
              <a:gd name="adj" fmla="val 3922"/>
            </a:avLst>
          </a:prstGeom>
          <a:solidFill>
            <a:srgbClr val="E0F0E8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535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sessions/zen-clever-archimedes/mnt/outputs/assets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0906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017520"/>
            <a:ext cx="41285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Работает сейчас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611880"/>
            <a:ext cx="45857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 INCI: ~41 ключевой ингредиент с правилами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правил: чувствительность, тип кожи, цели, стоп-лист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0–100 + вердикт: excellent / good / mixed / risky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по каждому ингредиенту + контекстный слой (время, погода)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23076" y="2697480"/>
            <a:ext cx="5225796" cy="2331720"/>
          </a:xfrm>
          <a:prstGeom prst="roundRect">
            <a:avLst>
              <a:gd name="adj" fmla="val 3922"/>
            </a:avLst>
          </a:prstGeom>
          <a:solidFill>
            <a:srgbClr val="E6E0F5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97396" y="29535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sessions/zen-clever-archimedes/mnt/outputs/assets/ic_spark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30906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3196" y="3017520"/>
            <a:ext cx="41285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 дорожной карте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43116" y="3611880"/>
            <a:ext cx="45857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AI-объяснения поверх результата engine (LLM)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ML-калибровка оценки по реальным оценкам пользователей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взаимодействия ингредиентов (ретинол + AHA и т.д.)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" y="5193792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Честно: сегодня это детерминированные правила, не ML. Данные пользователей создают flywheel, который и обучит ML на следующем этапе.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Защита — в данных и самообучении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инновация — не один алгоритм, а система, которая совершенствуется с ростом аудитории.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24865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852928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7" name="Image 0" descr="/sessions/zen-clever-archimedes/mnt/outputs/assets/ic_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30129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2816352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из РФ-источника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19072" y="3182112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 от Национального каталога: скрейпер → нормализатор → Postgres. В коде каталог рассчитан на ~62k товаров*.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300216" y="2560320"/>
            <a:ext cx="524865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4536" y="2852928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2" name="Image 1" descr="/sessions/zen-clever-archimedes/mnt/outputs/assets/ic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301294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9208" y="2816352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Проприетарная база INCI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79208" y="3182112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база знаний ингредиентов и правил — ядро движка, которое сложно скопировать.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40080" y="4334256"/>
            <a:ext cx="524865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626864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7" name="Image 2" descr="/sessions/zen-clever-archimedes/mnt/outputs/assets/ic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4786884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19072" y="4590288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эффект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719072" y="4956048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оценка делает рекомендации точнее — данные становятся барьером для входа.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6300216" y="4334256"/>
            <a:ext cx="524865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74536" y="4626864"/>
            <a:ext cx="640080" cy="64008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22" name="Image 3" descr="/sessions/zen-clever-archimedes/mnt/outputs/assets/ic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556" y="4786884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9208" y="4590288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наработок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379208" y="4956048"/>
            <a:ext cx="3968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Кодовая база, пайплайн и база знаний — ключевые активы; формализация IP в планах.</a:t>
            </a:r>
            <a:endParaRPr lang="en-US" sz="1080" dirty="0"/>
          </a:p>
        </p:txBody>
      </p:sp>
      <p:sp>
        <p:nvSpPr>
          <p:cNvPr id="25" name="Text 19"/>
          <p:cNvSpPr/>
          <p:nvPr/>
        </p:nvSpPr>
        <p:spPr>
          <a:xfrm>
            <a:off x="640080" y="6016752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«62k» — целевой объём каталога, указанный в коде/архитектуре; фактическое наполнение БД требует подтверждения. Исходный дек заявлял 20K+.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Единственные, кто соединяет анализ с покупкой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 либо только оценивают средства, либо только продают их. Мы делаем и то, и другое, сохраняя объективность.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90879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65960"/>
                <a:gridCol w="1828800"/>
                <a:gridCol w="2020824"/>
                <a:gridCol w="2020824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Золотое Яблоко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Аптеки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30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Анализ состава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Персональные рекомендации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Ссылки на покупку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Объективность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Персонализация под профиль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сегодня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ML-персонализация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roadmap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3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Российский каталог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B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И МОНЕТИЗАЦИЯ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Большой рынок и простая модель роста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EBA98E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214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</a:t>
            </a:r>
            <a:pPr indent="0" marL="0">
              <a:buNone/>
            </a:pPr>
            <a:r>
              <a:rPr lang="en-US" sz="2200" b="1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млн*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78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косметики в России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28700" y="3246120"/>
            <a:ext cx="4343400" cy="1005840"/>
          </a:xfrm>
          <a:prstGeom prst="roundRect">
            <a:avLst>
              <a:gd name="adj" fmla="val 9091"/>
            </a:avLst>
          </a:prstGeom>
          <a:solidFill>
            <a:srgbClr val="F0B89E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03020" y="33558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</a:t>
            </a:r>
            <a:pPr indent="0" marL="0">
              <a:buNone/>
            </a:pPr>
            <a:r>
              <a:rPr lang="en-US" sz="2200" b="1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млн*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03020" y="38130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женщины 18–45, Москва и крупные города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17320" y="448056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F5E6E0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</a:t>
            </a:r>
            <a:pPr indent="0" marL="0">
              <a:buNone/>
            </a:pPr>
            <a:r>
              <a:rPr lang="en-US" sz="2200" b="1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100K–1M*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50474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по пользователям на первый год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Модель монетизации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2377440"/>
            <a:ext cx="5148072" cy="1325880"/>
          </a:xfrm>
          <a:prstGeom prst="roundRect">
            <a:avLst>
              <a:gd name="adj" fmla="val 6897"/>
            </a:avLst>
          </a:prstGeom>
          <a:solidFill>
            <a:srgbClr val="E0F0E8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0" descr="/sessions/zen-clever-archimedes/mnt/outputs/assets/ic_mon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74320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60920" y="254203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Бесплатное ядро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20840" y="297180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функционал доступен всем. Монетизация через партнёрские комиссии с продаж.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0" y="3886200"/>
            <a:ext cx="5148072" cy="1371600"/>
          </a:xfrm>
          <a:prstGeom prst="roundRect">
            <a:avLst>
              <a:gd name="adj" fmla="val 6667"/>
            </a:avLst>
          </a:prstGeom>
          <a:solidFill>
            <a:srgbClr val="E6E0F5"/>
          </a:solidFill>
          <a:ln/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56832" y="4114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/sessions/zen-clever-archimedes/mnt/outputs/assets/ic_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25196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60920" y="405079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Premium-подписка — 299 ₽/мес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720840" y="448056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Расширенная аналитика, приоритетные рекомендации, эксклюзивный контент.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размеры рынка из исходного дека; источник не указан — нужно подтвердить методологию до встреч с фондами.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мы сейчас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Исполнение, а не обещания. Технический риск во многом уже снят.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4528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880360"/>
            <a:ext cx="19956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3675888"/>
            <a:ext cx="19956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986784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 в проде + нативное приложение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58718" y="2651760"/>
            <a:ext cx="24528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87318" y="2880360"/>
            <a:ext cx="19956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~250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87318" y="3675888"/>
            <a:ext cx="19956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 кода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87318" y="3986784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кодовые базы, активная разработка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77356" y="2651760"/>
            <a:ext cx="24528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05956" y="2880360"/>
            <a:ext cx="19956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05956" y="3675888"/>
            <a:ext cx="19956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REST-эндпоинтов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05956" y="3986784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API для мобильных клиентов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5994" y="2651760"/>
            <a:ext cx="245287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24594" y="2880360"/>
            <a:ext cx="19956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RU/EN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324594" y="3675888"/>
            <a:ext cx="19956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локализация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24594" y="3986784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ключей перевода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F5F0E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956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0" descr="/sessions/zen-clever-archimedes/mnt/outputs/assets/ic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5070348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54480" y="4754880"/>
            <a:ext cx="9720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пока нет (честно): публичного запуска, выручки и метрик пользователей. Раунд нужен, чтобы выйти в сторы и начать набирать трекшн.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построенного продукта — к лидерству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87168" cy="39776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2D6A4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423160"/>
            <a:ext cx="2487168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717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sessions/zen-clever-archimedes/mnt/outputs/assets/ic_check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2860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Сделано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999232"/>
            <a:ext cx="20299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 в проде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Нативное iOS/Android-приложение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REST API, Postgres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совместимости v1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Сканер штрихкодов (веб + нативный)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Каталог-пайплайн, RU/EN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47288" y="1965960"/>
            <a:ext cx="2487168" cy="39776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47288" y="196596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B8860B"/>
          </a:solidFill>
          <a:ln/>
        </p:spPr>
      </p:sp>
      <p:sp>
        <p:nvSpPr>
          <p:cNvPr id="13" name="Shape 10"/>
          <p:cNvSpPr/>
          <p:nvPr/>
        </p:nvSpPr>
        <p:spPr>
          <a:xfrm>
            <a:off x="3447288" y="2423160"/>
            <a:ext cx="2487168" cy="41148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Shape 11"/>
          <p:cNvSpPr/>
          <p:nvPr/>
        </p:nvSpPr>
        <p:spPr>
          <a:xfrm>
            <a:off x="3675888" y="21717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/sessions/zen-clever-archimedes/mnt/outputs/assets/ic_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188" y="22860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24528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работе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703320" y="2999232"/>
            <a:ext cx="20299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к публикации в сторах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Наполнение и качество каталога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монетизации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54496" y="1965960"/>
            <a:ext cx="2487168" cy="39776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54496" y="196596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9B3030"/>
          </a:solidFill>
          <a:ln/>
        </p:spPr>
      </p:sp>
      <p:sp>
        <p:nvSpPr>
          <p:cNvPr id="20" name="Shape 16"/>
          <p:cNvSpPr/>
          <p:nvPr/>
        </p:nvSpPr>
        <p:spPr>
          <a:xfrm>
            <a:off x="6254496" y="2423160"/>
            <a:ext cx="2487168" cy="411480"/>
          </a:xfrm>
          <a:prstGeom prst="rect">
            <a:avLst/>
          </a:prstGeom>
          <a:solidFill>
            <a:srgbClr val="9B3030"/>
          </a:solidFill>
          <a:ln/>
        </p:spPr>
      </p:sp>
      <p:sp>
        <p:nvSpPr>
          <p:cNvPr id="21" name="Shape 17"/>
          <p:cNvSpPr/>
          <p:nvPr/>
        </p:nvSpPr>
        <p:spPr>
          <a:xfrm>
            <a:off x="6483096" y="21717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/sessions/zen-clever-archimedes/mnt/outputs/assets/ic_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228600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31736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Дальше (0–6 мес)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510528" y="2999232"/>
            <a:ext cx="20299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 App Store / Google Play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пользователи и трекшн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AI-объяснения (LLM)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Premium-подписка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61704" y="1965960"/>
            <a:ext cx="2487168" cy="39776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061704" y="196596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7A6FB0"/>
          </a:solidFill>
          <a:ln/>
        </p:spPr>
      </p:sp>
      <p:sp>
        <p:nvSpPr>
          <p:cNvPr id="27" name="Shape 22"/>
          <p:cNvSpPr/>
          <p:nvPr/>
        </p:nvSpPr>
        <p:spPr>
          <a:xfrm>
            <a:off x="9061704" y="2423160"/>
            <a:ext cx="2487168" cy="411480"/>
          </a:xfrm>
          <a:prstGeom prst="rect">
            <a:avLst/>
          </a:prstGeom>
          <a:solidFill>
            <a:srgbClr val="7A6FB0"/>
          </a:solidFill>
          <a:ln/>
        </p:spPr>
      </p:sp>
      <p:sp>
        <p:nvSpPr>
          <p:cNvPr id="28" name="Shape 23"/>
          <p:cNvSpPr/>
          <p:nvPr/>
        </p:nvSpPr>
        <p:spPr>
          <a:xfrm>
            <a:off x="9290304" y="21717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/sessions/zen-clever-archimedes/mnt/outputs/assets/ic_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4604" y="228600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838944" y="1965960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Видение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317736" y="2999232"/>
            <a:ext cx="20299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ML-персонализация на данных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взаимодействия ингредиентов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Регионы РФ и экспансия</a:t>
            </a:r>
            <a:endParaRPr lang="en-US" sz="1100" dirty="0"/>
          </a:p>
          <a:p>
            <a:pPr marL="165100" indent="-1651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Маркетплейс-возможности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Команда, способная исполнять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Сбалансированная команда, которая уже довела продукт от нуля до развёрнутого прототипа на двух платформах.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33146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4332" y="3063240"/>
            <a:ext cx="822960" cy="82296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7" name="Image 0" descr="/sessions/zen-clever-archimedes/mnt/outputs/assets/ic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072" y="32689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233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 / Основатель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453128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Видение, развитие бизнеса, продукт, привлечение инвестиций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28744" y="2697480"/>
            <a:ext cx="333146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2" name="Image 1" descr="/sessions/zen-clever-archimedes/mnt/outputs/assets/ic_code_w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32689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1624" y="40233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Технический директор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3064" y="4453128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Архитектура, разработка, ML-направление, руководство командой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17408" y="2697480"/>
            <a:ext cx="333146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71660" y="3063240"/>
            <a:ext cx="822960" cy="822960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7" name="Image 2" descr="/sessions/zen-clever-archimedes/mnt/outputs/assets/ic_chart_w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32689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00288" y="40233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Аналитик данных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91728" y="4453128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 рынка, поведение пользователей, продуктовые метрики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53949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укомплектована по ключевым направлениям: продукт, инженерия и данные.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Инвестиции для выхода на рынок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8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фундамент построен. Раунд направлен на запуск, первых пользователей и опережение конкурентов.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E8C0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раунда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____ ₽ / $ ]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B7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не указана в исходном деке — заполните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2697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что пойдут средства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1546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/sessions/zen-clever-archimedes/mnt/outputs/assets/ic_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326898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57800" y="3136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 сторы и маркетинг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269480" y="3154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__% ]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3813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/sessions/zen-clever-archimedes/mnt/outputs/assets/ic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3927348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Привлечение первых пользователей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269480" y="381304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__% ]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63440" y="44714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sessions/zen-clever-archimedes/mnt/outputs/assets/ic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4585716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4453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и качество каталога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69480" y="44714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__% ]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663440" y="51297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sessions/zen-clever-archimedes/mnt/outputs/assets/ic_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5244084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57800" y="51114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 инфраструктура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269480" y="51297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__% ]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321040" y="269748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раунда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366760" y="3154680"/>
            <a:ext cx="32278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iOS / Android в сторах</a:t>
            </a:r>
            <a:endParaRPr lang="en-US" sz="1150" dirty="0"/>
          </a:p>
          <a:p>
            <a:pPr marL="165100" indent="-1651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[ ___ ] активных пользователей</a:t>
            </a:r>
            <a:endParaRPr lang="en-US" sz="1150" dirty="0"/>
          </a:p>
          <a:p>
            <a:pPr marL="165100" indent="-1651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валидация Premium-подписки</a:t>
            </a:r>
            <a:endParaRPr lang="en-US" sz="1150" dirty="0"/>
          </a:p>
          <a:p>
            <a:pPr marL="165100" indent="-1651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Runway: [ __ ] месяцев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BeautyScan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dirty="0">
                <a:solidFill>
                  <a:srgbClr val="9B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BeautyScan — новый стандарт выбора косметики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971800"/>
            <a:ext cx="26822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3246120"/>
            <a:ext cx="566928" cy="566928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6" name="Image 0" descr="/sessions/zen-clever-archimedes/mnt/outputs/assets/ic_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33878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931920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Решаем реальную проблему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96112" y="44531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Превращаем часы поиска в три простых шага к идеальному средству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88080" y="2971800"/>
            <a:ext cx="26822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44112" y="3246120"/>
            <a:ext cx="566928" cy="566928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1" name="Image 1" descr="/sessions/zen-clever-archimedes/mnt/outputs/assets/ic_spark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844" y="33878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44112" y="3931920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Работающая технология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944112" y="44531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платформа, соединяющая анализ состава и персонализированную покупку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736080" y="2971800"/>
            <a:ext cx="26822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BE5DF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92112" y="3246120"/>
            <a:ext cx="566928" cy="566928"/>
          </a:xfrm>
          <a:prstGeom prst="ellipse">
            <a:avLst/>
          </a:prstGeom>
          <a:solidFill>
            <a:srgbClr val="F5E6E0"/>
          </a:solidFill>
          <a:ln/>
        </p:spPr>
      </p:sp>
      <p:pic>
        <p:nvPicPr>
          <p:cNvPr id="16" name="Image 2" descr="/sessions/zen-clever-archimedes/mnt/outputs/assets/ic_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844" y="33878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2112" y="3931920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Исполнение, а не идея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992112" y="44531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в проде на двух платформах — технический риск снят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40080" y="553212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3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меняем индустрию, делая выбор косметики осознанным, быстрым и приятным.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" y="614476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внимание. Готовы ответить на ваши вопросы.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BeautyScan · Pre-seed / Seed · Конфиденциально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BeautyScan — Investor Deck</dc:title>
  <dc:subject>PptxGenJS Presentation</dc:subject>
  <dc:creator>BeautyScan</dc:creator>
  <cp:lastModifiedBy>BeautyScan</cp:lastModifiedBy>
  <cp:revision>1</cp:revision>
  <dcterms:created xsi:type="dcterms:W3CDTF">2026-06-08T19:17:45Z</dcterms:created>
  <dcterms:modified xsi:type="dcterms:W3CDTF">2026-06-08T19:17:45Z</dcterms:modified>
</cp:coreProperties>
</file>